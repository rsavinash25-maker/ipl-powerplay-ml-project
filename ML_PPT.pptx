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5" r:id="rId1"/>
    <p:sldMasterId id="2147483663" r:id="rId2"/>
    <p:sldMasterId id="2147483671" r:id="rId3"/>
    <p:sldMasterId id="2147483679" r:id="rId4"/>
    <p:sldMasterId id="2147483687" r:id="rId5"/>
  </p:sldMasterIdLst>
  <p:notesMasterIdLst>
    <p:notesMasterId r:id="rId11"/>
  </p:notesMasterIdLst>
  <p:sldIdLst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7iRuPtwpOERm3XUti2Dpr5DQ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e2e3785ae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13e2e3785ae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3e2e3785ae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3958" lvl="0" indent="0" algn="just" rtl="0">
              <a:lnSpc>
                <a:spcPct val="95628"/>
              </a:lnSpc>
              <a:spcBef>
                <a:spcPts val="247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77" name="Google Shape;177;g13e2e3785ae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e2e3785ae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3609" marR="23515" lvl="0" indent="13715" algn="just" rtl="0">
              <a:lnSpc>
                <a:spcPct val="9588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g13e2e3785ae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e2e3785ae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13e2e3785ae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3e2e3785ae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g13e2e3785ae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3e2e3785ae_0_405"/>
          <p:cNvSpPr txBox="1">
            <a:spLocks noGrp="1"/>
          </p:cNvSpPr>
          <p:nvPr>
            <p:ph type="title"/>
          </p:nvPr>
        </p:nvSpPr>
        <p:spPr>
          <a:xfrm>
            <a:off x="1270522" y="1741834"/>
            <a:ext cx="101901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13e2e3785ae_0_405"/>
          <p:cNvSpPr txBox="1">
            <a:spLocks noGrp="1"/>
          </p:cNvSpPr>
          <p:nvPr>
            <p:ph type="body" idx="1"/>
          </p:nvPr>
        </p:nvSpPr>
        <p:spPr>
          <a:xfrm>
            <a:off x="1270522" y="2984064"/>
            <a:ext cx="10190100" cy="3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13e2e3785ae_0_408"/>
          <p:cNvSpPr txBox="1">
            <a:spLocks noGrp="1"/>
          </p:cNvSpPr>
          <p:nvPr>
            <p:ph type="ctrTitle"/>
          </p:nvPr>
        </p:nvSpPr>
        <p:spPr>
          <a:xfrm>
            <a:off x="1362209" y="1806598"/>
            <a:ext cx="7904100" cy="18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13e2e3785ae_0_408"/>
          <p:cNvSpPr txBox="1">
            <a:spLocks noGrp="1"/>
          </p:cNvSpPr>
          <p:nvPr>
            <p:ph type="subTitle" idx="1"/>
          </p:nvPr>
        </p:nvSpPr>
        <p:spPr>
          <a:xfrm>
            <a:off x="1362209" y="3913446"/>
            <a:ext cx="7904100" cy="12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3e2e3785ae_0_411"/>
          <p:cNvSpPr txBox="1">
            <a:spLocks noGrp="1"/>
          </p:cNvSpPr>
          <p:nvPr>
            <p:ph type="title"/>
          </p:nvPr>
        </p:nvSpPr>
        <p:spPr>
          <a:xfrm>
            <a:off x="1387904" y="1837755"/>
            <a:ext cx="7657200" cy="2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13e2e3785ae_0_411"/>
          <p:cNvSpPr txBox="1">
            <a:spLocks noGrp="1"/>
          </p:cNvSpPr>
          <p:nvPr>
            <p:ph type="body" idx="1"/>
          </p:nvPr>
        </p:nvSpPr>
        <p:spPr>
          <a:xfrm>
            <a:off x="1387904" y="4373722"/>
            <a:ext cx="7657200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3e2e3785ae_0_414"/>
          <p:cNvSpPr txBox="1">
            <a:spLocks noGrp="1"/>
          </p:cNvSpPr>
          <p:nvPr>
            <p:ph type="title"/>
          </p:nvPr>
        </p:nvSpPr>
        <p:spPr>
          <a:xfrm>
            <a:off x="1270522" y="1741834"/>
            <a:ext cx="101901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13e2e3785ae_0_414"/>
          <p:cNvSpPr txBox="1">
            <a:spLocks noGrp="1"/>
          </p:cNvSpPr>
          <p:nvPr>
            <p:ph type="body" idx="1"/>
          </p:nvPr>
        </p:nvSpPr>
        <p:spPr>
          <a:xfrm>
            <a:off x="1270522" y="2918787"/>
            <a:ext cx="51816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13e2e3785ae_0_414"/>
          <p:cNvSpPr txBox="1">
            <a:spLocks noGrp="1"/>
          </p:cNvSpPr>
          <p:nvPr>
            <p:ph type="body" idx="2"/>
          </p:nvPr>
        </p:nvSpPr>
        <p:spPr>
          <a:xfrm>
            <a:off x="6659880" y="2918787"/>
            <a:ext cx="51816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3e2e3785ae_0_418"/>
          <p:cNvSpPr txBox="1">
            <a:spLocks noGrp="1"/>
          </p:cNvSpPr>
          <p:nvPr>
            <p:ph type="title"/>
          </p:nvPr>
        </p:nvSpPr>
        <p:spPr>
          <a:xfrm>
            <a:off x="1242124" y="1633093"/>
            <a:ext cx="105156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13e2e3785ae_0_418"/>
          <p:cNvSpPr txBox="1">
            <a:spLocks noGrp="1"/>
          </p:cNvSpPr>
          <p:nvPr>
            <p:ph type="body" idx="1"/>
          </p:nvPr>
        </p:nvSpPr>
        <p:spPr>
          <a:xfrm>
            <a:off x="1242124" y="2949131"/>
            <a:ext cx="51579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g13e2e3785ae_0_418"/>
          <p:cNvSpPr txBox="1">
            <a:spLocks noGrp="1"/>
          </p:cNvSpPr>
          <p:nvPr>
            <p:ph type="body" idx="2"/>
          </p:nvPr>
        </p:nvSpPr>
        <p:spPr>
          <a:xfrm>
            <a:off x="1242124" y="3773043"/>
            <a:ext cx="5157900" cy="27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g13e2e3785ae_0_418"/>
          <p:cNvSpPr txBox="1">
            <a:spLocks noGrp="1"/>
          </p:cNvSpPr>
          <p:nvPr>
            <p:ph type="body" idx="3"/>
          </p:nvPr>
        </p:nvSpPr>
        <p:spPr>
          <a:xfrm>
            <a:off x="6574536" y="2949131"/>
            <a:ext cx="51831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g13e2e3785ae_0_418"/>
          <p:cNvSpPr txBox="1">
            <a:spLocks noGrp="1"/>
          </p:cNvSpPr>
          <p:nvPr>
            <p:ph type="body" idx="4"/>
          </p:nvPr>
        </p:nvSpPr>
        <p:spPr>
          <a:xfrm>
            <a:off x="6574536" y="3773043"/>
            <a:ext cx="5183100" cy="27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e2e3785ae_0_424"/>
          <p:cNvSpPr txBox="1">
            <a:spLocks noGrp="1"/>
          </p:cNvSpPr>
          <p:nvPr>
            <p:ph type="title"/>
          </p:nvPr>
        </p:nvSpPr>
        <p:spPr>
          <a:xfrm>
            <a:off x="1294906" y="2452018"/>
            <a:ext cx="101901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9"/>
          <p:cNvSpPr txBox="1"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9"/>
          <p:cNvSpPr txBox="1">
            <a:spLocks noGrp="1"/>
          </p:cNvSpPr>
          <p:nvPr>
            <p:ph type="body" idx="1"/>
          </p:nvPr>
        </p:nvSpPr>
        <p:spPr>
          <a:xfrm>
            <a:off x="343930" y="2581728"/>
            <a:ext cx="10311878" cy="306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2"/>
          <p:cNvSpPr txBox="1"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2"/>
          <p:cNvSpPr txBox="1"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3"/>
          <p:cNvSpPr txBox="1">
            <a:spLocks noGrp="1"/>
          </p:cNvSpPr>
          <p:nvPr>
            <p:ph type="title"/>
          </p:nvPr>
        </p:nvSpPr>
        <p:spPr>
          <a:xfrm>
            <a:off x="473504" y="893033"/>
            <a:ext cx="9011872" cy="214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3"/>
          <p:cNvSpPr txBox="1"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4"/>
          <p:cNvSpPr txBox="1"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4"/>
          <p:cNvSpPr txBox="1">
            <a:spLocks noGrp="1"/>
          </p:cNvSpPr>
          <p:nvPr>
            <p:ph type="body" idx="1"/>
          </p:nvPr>
        </p:nvSpPr>
        <p:spPr>
          <a:xfrm>
            <a:off x="343930" y="1768358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4"/>
          <p:cNvSpPr txBox="1">
            <a:spLocks noGrp="1"/>
          </p:cNvSpPr>
          <p:nvPr>
            <p:ph type="body" idx="2"/>
          </p:nvPr>
        </p:nvSpPr>
        <p:spPr>
          <a:xfrm>
            <a:off x="5855208" y="178836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5"/>
          <p:cNvSpPr txBox="1"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5"/>
          <p:cNvSpPr txBox="1"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195"/>
          <p:cNvSpPr txBox="1">
            <a:spLocks noGrp="1"/>
          </p:cNvSpPr>
          <p:nvPr>
            <p:ph type="body" idx="2"/>
          </p:nvPr>
        </p:nvSpPr>
        <p:spPr>
          <a:xfrm>
            <a:off x="400876" y="2965165"/>
            <a:ext cx="5157787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95"/>
          <p:cNvSpPr txBox="1"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195"/>
          <p:cNvSpPr txBox="1">
            <a:spLocks noGrp="1"/>
          </p:cNvSpPr>
          <p:nvPr>
            <p:ph type="body" idx="4"/>
          </p:nvPr>
        </p:nvSpPr>
        <p:spPr>
          <a:xfrm>
            <a:off x="5733288" y="2965165"/>
            <a:ext cx="5183188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6"/>
          <p:cNvSpPr txBox="1"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1"/>
          <p:cNvSpPr txBox="1"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1"/>
          <p:cNvSpPr txBox="1">
            <a:spLocks noGrp="1"/>
          </p:cNvSpPr>
          <p:nvPr>
            <p:ph type="body" idx="1"/>
          </p:nvPr>
        </p:nvSpPr>
        <p:spPr>
          <a:xfrm>
            <a:off x="343930" y="2581728"/>
            <a:ext cx="10311878" cy="306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8"/>
          <p:cNvSpPr txBox="1"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8"/>
          <p:cNvSpPr txBox="1"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9"/>
          <p:cNvSpPr txBox="1">
            <a:spLocks noGrp="1"/>
          </p:cNvSpPr>
          <p:nvPr>
            <p:ph type="title"/>
          </p:nvPr>
        </p:nvSpPr>
        <p:spPr>
          <a:xfrm>
            <a:off x="473504" y="893033"/>
            <a:ext cx="9011872" cy="214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9"/>
          <p:cNvSpPr txBox="1"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0"/>
          <p:cNvSpPr txBox="1"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0"/>
          <p:cNvSpPr txBox="1">
            <a:spLocks noGrp="1"/>
          </p:cNvSpPr>
          <p:nvPr>
            <p:ph type="body" idx="1"/>
          </p:nvPr>
        </p:nvSpPr>
        <p:spPr>
          <a:xfrm>
            <a:off x="343930" y="1768358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70"/>
          <p:cNvSpPr txBox="1">
            <a:spLocks noGrp="1"/>
          </p:cNvSpPr>
          <p:nvPr>
            <p:ph type="body" idx="2"/>
          </p:nvPr>
        </p:nvSpPr>
        <p:spPr>
          <a:xfrm>
            <a:off x="5855208" y="178836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1"/>
          <p:cNvSpPr txBox="1"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1"/>
          <p:cNvSpPr txBox="1"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3" name="Google Shape;93;p171"/>
          <p:cNvSpPr txBox="1">
            <a:spLocks noGrp="1"/>
          </p:cNvSpPr>
          <p:nvPr>
            <p:ph type="body" idx="2"/>
          </p:nvPr>
        </p:nvSpPr>
        <p:spPr>
          <a:xfrm>
            <a:off x="400876" y="2965165"/>
            <a:ext cx="5157787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71"/>
          <p:cNvSpPr txBox="1"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71"/>
          <p:cNvSpPr txBox="1">
            <a:spLocks noGrp="1"/>
          </p:cNvSpPr>
          <p:nvPr>
            <p:ph type="body" idx="4"/>
          </p:nvPr>
        </p:nvSpPr>
        <p:spPr>
          <a:xfrm>
            <a:off x="5733288" y="2965165"/>
            <a:ext cx="5183188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2"/>
          <p:cNvSpPr txBox="1"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1"/>
          <p:cNvSpPr txBox="1"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1"/>
          <p:cNvSpPr txBox="1"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71"/>
          <p:cNvSpPr txBox="1">
            <a:spLocks noGrp="1"/>
          </p:cNvSpPr>
          <p:nvPr>
            <p:ph type="body" idx="2"/>
          </p:nvPr>
        </p:nvSpPr>
        <p:spPr>
          <a:xfrm>
            <a:off x="400876" y="2965165"/>
            <a:ext cx="5157787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1"/>
          <p:cNvSpPr txBox="1"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71"/>
          <p:cNvSpPr txBox="1">
            <a:spLocks noGrp="1"/>
          </p:cNvSpPr>
          <p:nvPr>
            <p:ph type="body" idx="4"/>
          </p:nvPr>
        </p:nvSpPr>
        <p:spPr>
          <a:xfrm>
            <a:off x="5733288" y="2965165"/>
            <a:ext cx="5183188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8"/>
          <p:cNvSpPr txBox="1"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8"/>
          <p:cNvSpPr txBox="1"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9"/>
          <p:cNvSpPr txBox="1"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9"/>
          <p:cNvSpPr txBox="1">
            <a:spLocks noGrp="1"/>
          </p:cNvSpPr>
          <p:nvPr>
            <p:ph type="body" idx="1"/>
          </p:nvPr>
        </p:nvSpPr>
        <p:spPr>
          <a:xfrm>
            <a:off x="343930" y="2581728"/>
            <a:ext cx="10311878" cy="306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0"/>
          <p:cNvSpPr txBox="1">
            <a:spLocks noGrp="1"/>
          </p:cNvSpPr>
          <p:nvPr>
            <p:ph type="title"/>
          </p:nvPr>
        </p:nvSpPr>
        <p:spPr>
          <a:xfrm>
            <a:off x="473504" y="893033"/>
            <a:ext cx="9011872" cy="214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0"/>
          <p:cNvSpPr txBox="1"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1"/>
          <p:cNvSpPr txBox="1"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1"/>
          <p:cNvSpPr txBox="1">
            <a:spLocks noGrp="1"/>
          </p:cNvSpPr>
          <p:nvPr>
            <p:ph type="body" idx="1"/>
          </p:nvPr>
        </p:nvSpPr>
        <p:spPr>
          <a:xfrm>
            <a:off x="343930" y="1768358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01"/>
          <p:cNvSpPr txBox="1">
            <a:spLocks noGrp="1"/>
          </p:cNvSpPr>
          <p:nvPr>
            <p:ph type="body" idx="2"/>
          </p:nvPr>
        </p:nvSpPr>
        <p:spPr>
          <a:xfrm>
            <a:off x="5855208" y="178836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2"/>
          <p:cNvSpPr txBox="1"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5"/>
          <p:cNvSpPr txBox="1"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5"/>
          <p:cNvSpPr txBox="1">
            <a:spLocks noGrp="1"/>
          </p:cNvSpPr>
          <p:nvPr>
            <p:ph type="body" idx="1"/>
          </p:nvPr>
        </p:nvSpPr>
        <p:spPr>
          <a:xfrm>
            <a:off x="343930" y="2581728"/>
            <a:ext cx="10311878" cy="306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0"/>
          <p:cNvSpPr txBox="1"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0"/>
          <p:cNvSpPr txBox="1"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1"/>
          <p:cNvSpPr txBox="1">
            <a:spLocks noGrp="1"/>
          </p:cNvSpPr>
          <p:nvPr>
            <p:ph type="title"/>
          </p:nvPr>
        </p:nvSpPr>
        <p:spPr>
          <a:xfrm>
            <a:off x="473504" y="893033"/>
            <a:ext cx="9011872" cy="214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81"/>
          <p:cNvSpPr txBox="1"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2"/>
          <p:cNvSpPr txBox="1"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2"/>
          <p:cNvSpPr txBox="1">
            <a:spLocks noGrp="1"/>
          </p:cNvSpPr>
          <p:nvPr>
            <p:ph type="body" idx="1"/>
          </p:nvPr>
        </p:nvSpPr>
        <p:spPr>
          <a:xfrm>
            <a:off x="343930" y="1768358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82"/>
          <p:cNvSpPr txBox="1">
            <a:spLocks noGrp="1"/>
          </p:cNvSpPr>
          <p:nvPr>
            <p:ph type="body" idx="2"/>
          </p:nvPr>
        </p:nvSpPr>
        <p:spPr>
          <a:xfrm>
            <a:off x="5855208" y="178836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3"/>
          <p:cNvSpPr txBox="1"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3"/>
          <p:cNvSpPr txBox="1"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183"/>
          <p:cNvSpPr txBox="1">
            <a:spLocks noGrp="1"/>
          </p:cNvSpPr>
          <p:nvPr>
            <p:ph type="body" idx="2"/>
          </p:nvPr>
        </p:nvSpPr>
        <p:spPr>
          <a:xfrm>
            <a:off x="400876" y="2965165"/>
            <a:ext cx="5157787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3"/>
          <p:cNvSpPr txBox="1"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5" name="Google Shape;145;p183"/>
          <p:cNvSpPr txBox="1">
            <a:spLocks noGrp="1"/>
          </p:cNvSpPr>
          <p:nvPr>
            <p:ph type="body" idx="4"/>
          </p:nvPr>
        </p:nvSpPr>
        <p:spPr>
          <a:xfrm>
            <a:off x="5733288" y="2965165"/>
            <a:ext cx="5183188" cy="334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4"/>
          <p:cNvSpPr txBox="1"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4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3e2e3785ae_0_402"/>
          <p:cNvSpPr txBox="1">
            <a:spLocks noGrp="1"/>
          </p:cNvSpPr>
          <p:nvPr>
            <p:ph type="title"/>
          </p:nvPr>
        </p:nvSpPr>
        <p:spPr>
          <a:xfrm>
            <a:off x="1270522" y="1741834"/>
            <a:ext cx="101901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g13e2e3785ae_0_402"/>
          <p:cNvSpPr txBox="1">
            <a:spLocks noGrp="1"/>
          </p:cNvSpPr>
          <p:nvPr>
            <p:ph type="body" idx="1"/>
          </p:nvPr>
        </p:nvSpPr>
        <p:spPr>
          <a:xfrm>
            <a:off x="1270522" y="3156894"/>
            <a:ext cx="101901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8"/>
          <p:cNvSpPr txBox="1"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8"/>
          <p:cNvSpPr txBox="1"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0"/>
          <p:cNvSpPr txBox="1"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70"/>
          <p:cNvSpPr txBox="1"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4"/>
          <p:cNvSpPr txBox="1"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64"/>
          <p:cNvSpPr txBox="1"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e2e3785ae_0_265"/>
          <p:cNvSpPr txBox="1">
            <a:spLocks noGrp="1"/>
          </p:cNvSpPr>
          <p:nvPr>
            <p:ph type="title"/>
          </p:nvPr>
        </p:nvSpPr>
        <p:spPr>
          <a:xfrm>
            <a:off x="1270522" y="1622091"/>
            <a:ext cx="10921478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/>
            <a:r>
              <a:rPr lang="en-IN" dirty="0"/>
              <a:t>The Powerplay Effect: Predicting IPL Match Outcomes from Early-Over Performance</a:t>
            </a:r>
          </a:p>
        </p:txBody>
      </p:sp>
      <p:sp>
        <p:nvSpPr>
          <p:cNvPr id="174" name="Google Shape;174;g13e2e3785ae_0_265"/>
          <p:cNvSpPr txBox="1">
            <a:spLocks noGrp="1"/>
          </p:cNvSpPr>
          <p:nvPr>
            <p:ph type="body" idx="1"/>
          </p:nvPr>
        </p:nvSpPr>
        <p:spPr>
          <a:xfrm>
            <a:off x="1270522" y="2554491"/>
            <a:ext cx="10181249" cy="464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1400" b="1" dirty="0">
                <a:latin typeface="+mn-lt"/>
              </a:rPr>
              <a:t>Context &amp; Motivation</a:t>
            </a:r>
            <a:endParaRPr lang="en-IN" sz="1400" dirty="0">
              <a:latin typeface="+mn-lt"/>
            </a:endParaRPr>
          </a:p>
          <a:p>
            <a:pPr lvl="1"/>
            <a:r>
              <a:rPr lang="en-IN" sz="1400" dirty="0">
                <a:latin typeface="+mn-lt"/>
              </a:rPr>
              <a:t>Powerplay (first 6 overs) strongly influences momentum, chasing difficulty, and match direction in T20 cricket.</a:t>
            </a:r>
          </a:p>
          <a:p>
            <a:pPr lvl="1"/>
            <a:r>
              <a:rPr lang="en-IN" sz="1400" dirty="0">
                <a:latin typeface="+mn-lt"/>
              </a:rPr>
              <a:t>Teams struggle with deciding how aggressive to be, how many PP runs are “enough”, and how venue/opponent affect early strategy.</a:t>
            </a:r>
          </a:p>
          <a:p>
            <a:pPr lvl="1"/>
            <a:r>
              <a:rPr lang="en-IN" sz="1400" dirty="0">
                <a:latin typeface="+mn-lt"/>
              </a:rPr>
              <a:t>Coaches and analysts increasingly rely on data, but intuition still dominates Powerplay decisions.</a:t>
            </a:r>
          </a:p>
          <a:p>
            <a:pPr marL="114300" indent="0">
              <a:buNone/>
            </a:pPr>
            <a:r>
              <a:rPr lang="en-IN" sz="1400" b="1" dirty="0">
                <a:latin typeface="+mn-lt"/>
              </a:rPr>
              <a:t>Project Goal</a:t>
            </a:r>
            <a:endParaRPr lang="en-IN" sz="1400" dirty="0">
              <a:latin typeface="+mn-lt"/>
            </a:endParaRPr>
          </a:p>
          <a:p>
            <a:pPr lvl="1"/>
            <a:r>
              <a:rPr lang="en-IN" sz="1400" dirty="0">
                <a:latin typeface="+mn-lt"/>
              </a:rPr>
              <a:t>Predict IPL match outcome using only Powerplay performance + pre-match context.</a:t>
            </a:r>
          </a:p>
          <a:p>
            <a:pPr lvl="1"/>
            <a:r>
              <a:rPr lang="en-IN" sz="1400" dirty="0">
                <a:latin typeface="+mn-lt"/>
              </a:rPr>
              <a:t>Quantify how much early-over performance contributes to winning.</a:t>
            </a:r>
          </a:p>
          <a:p>
            <a:pPr marL="114300" indent="0">
              <a:buNone/>
            </a:pPr>
            <a:r>
              <a:rPr lang="en-IN" sz="1400" b="1" dirty="0">
                <a:latin typeface="+mn-lt"/>
              </a:rPr>
              <a:t>Why We Chose Random Forest as the Main Model</a:t>
            </a:r>
            <a:endParaRPr lang="en-IN" sz="1400" dirty="0">
              <a:latin typeface="+mn-lt"/>
            </a:endParaRPr>
          </a:p>
          <a:p>
            <a:pPr lvl="1"/>
            <a:r>
              <a:rPr lang="en-IN" sz="1400" dirty="0">
                <a:latin typeface="+mn-lt"/>
              </a:rPr>
              <a:t>Compared multiple models: Majority baseline, Logistic Regression, Decision Tree, Random Forest, XGBoost.</a:t>
            </a:r>
          </a:p>
          <a:p>
            <a:pPr lvl="1"/>
            <a:r>
              <a:rPr lang="en-IN" sz="1400" dirty="0">
                <a:latin typeface="+mn-lt"/>
              </a:rPr>
              <a:t>Random Forest achieved the best overall accuracy (~0.63) and the most balanced precision–recall for both win/loss classes.</a:t>
            </a:r>
          </a:p>
          <a:p>
            <a:pPr lvl="1"/>
            <a:r>
              <a:rPr lang="en-IN" sz="1400" dirty="0">
                <a:latin typeface="+mn-lt"/>
              </a:rPr>
              <a:t>Handles non-linear interactions (runs, wickets, venue, team strength) and high-dimensional one-hot features robustly.</a:t>
            </a:r>
          </a:p>
          <a:p>
            <a:pPr lvl="1"/>
            <a:r>
              <a:rPr lang="en-IN" sz="1400" dirty="0">
                <a:latin typeface="+mn-lt"/>
              </a:rPr>
              <a:t>More stable and less sensitive to hyperparameters than XGBoost during cross-validation.</a:t>
            </a:r>
          </a:p>
          <a:p>
            <a:pPr marL="228600" lvl="0" indent="-50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4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e2e3785ae_0_278"/>
          <p:cNvSpPr txBox="1">
            <a:spLocks noGrp="1"/>
          </p:cNvSpPr>
          <p:nvPr>
            <p:ph type="title"/>
          </p:nvPr>
        </p:nvSpPr>
        <p:spPr>
          <a:xfrm>
            <a:off x="496330" y="524400"/>
            <a:ext cx="10311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dirty="0"/>
              <a:t>Data &amp; Problem Framing</a:t>
            </a:r>
            <a:endParaRPr dirty="0"/>
          </a:p>
        </p:txBody>
      </p:sp>
      <p:sp>
        <p:nvSpPr>
          <p:cNvPr id="180" name="Google Shape;180;g13e2e3785ae_0_278"/>
          <p:cNvSpPr txBox="1">
            <a:spLocks noGrp="1"/>
          </p:cNvSpPr>
          <p:nvPr>
            <p:ph type="body" idx="1"/>
          </p:nvPr>
        </p:nvSpPr>
        <p:spPr>
          <a:xfrm>
            <a:off x="735816" y="1411371"/>
            <a:ext cx="10311900" cy="436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1400" b="1" dirty="0">
                <a:latin typeface="+mj-lt"/>
              </a:rPr>
              <a:t>Data Source</a:t>
            </a:r>
            <a:endParaRPr lang="en-IN" sz="1400" dirty="0">
              <a:latin typeface="+mj-lt"/>
            </a:endParaRPr>
          </a:p>
          <a:p>
            <a:pPr lvl="1"/>
            <a:r>
              <a:rPr lang="en-IN" sz="1400" dirty="0">
                <a:latin typeface="+mj-lt"/>
              </a:rPr>
              <a:t>Public IPL datasets from Kaggle (2008-2023):</a:t>
            </a:r>
          </a:p>
          <a:p>
            <a:pPr marL="1028700" lvl="2" indent="0">
              <a:buNone/>
            </a:pPr>
            <a:r>
              <a:rPr lang="en-IN" sz="1400" b="1" dirty="0">
                <a:latin typeface="+mj-lt"/>
              </a:rPr>
              <a:t>Match-level data</a:t>
            </a:r>
            <a:r>
              <a:rPr lang="en-IN" sz="1400" dirty="0">
                <a:latin typeface="+mj-lt"/>
              </a:rPr>
              <a:t> </a:t>
            </a:r>
            <a:r>
              <a:rPr lang="en-IN" sz="1400" dirty="0"/>
              <a:t> → </a:t>
            </a:r>
            <a:r>
              <a:rPr lang="en-IN" sz="1400" dirty="0">
                <a:latin typeface="+mj-lt"/>
              </a:rPr>
              <a:t> 1,095 completed matches.</a:t>
            </a:r>
          </a:p>
          <a:p>
            <a:pPr marL="1028700" lvl="2" indent="0">
              <a:buNone/>
            </a:pPr>
            <a:r>
              <a:rPr lang="en-IN" sz="1400" b="1" dirty="0">
                <a:latin typeface="+mj-lt"/>
              </a:rPr>
              <a:t>Ball-by-ball data</a:t>
            </a:r>
            <a:r>
              <a:rPr lang="en-IN" sz="1400" dirty="0">
                <a:latin typeface="+mj-lt"/>
              </a:rPr>
              <a:t>  </a:t>
            </a:r>
            <a:r>
              <a:rPr lang="en-IN" sz="1400" dirty="0"/>
              <a:t>→ </a:t>
            </a:r>
            <a:r>
              <a:rPr lang="en-IN" sz="1400" dirty="0">
                <a:latin typeface="+mj-lt"/>
              </a:rPr>
              <a:t>  ~260,000 deliveries.</a:t>
            </a:r>
          </a:p>
          <a:p>
            <a:pPr lvl="1"/>
            <a:r>
              <a:rPr lang="en-IN" sz="1400" dirty="0">
                <a:latin typeface="+mj-lt"/>
              </a:rPr>
              <a:t>Contains only professional information (teams, scores, venues) → no personal data, ethically safe for analysis.</a:t>
            </a:r>
          </a:p>
          <a:p>
            <a:pPr marL="114300" indent="0">
              <a:buNone/>
            </a:pPr>
            <a:r>
              <a:rPr lang="en-IN" sz="1400" b="1" dirty="0">
                <a:latin typeface="+mj-lt"/>
              </a:rPr>
              <a:t>Problem Definition</a:t>
            </a:r>
            <a:endParaRPr lang="en-IN" sz="1400" dirty="0">
              <a:latin typeface="+mj-lt"/>
            </a:endParaRPr>
          </a:p>
          <a:p>
            <a:pPr lvl="1"/>
            <a:r>
              <a:rPr lang="en-IN" sz="1400" dirty="0">
                <a:latin typeface="+mj-lt"/>
              </a:rPr>
              <a:t>Binary classification task at match level, from the perspective of the Powerplay batting team.</a:t>
            </a:r>
          </a:p>
          <a:p>
            <a:pPr lvl="1"/>
            <a:r>
              <a:rPr lang="en-IN" sz="1400" dirty="0">
                <a:latin typeface="+mj-lt"/>
              </a:rPr>
              <a:t>Target variable:</a:t>
            </a:r>
          </a:p>
          <a:p>
            <a:pPr marL="1028700" lvl="2" indent="0">
              <a:buNone/>
            </a:pPr>
            <a:r>
              <a:rPr lang="en-IN" sz="1400" dirty="0">
                <a:latin typeface="+mj-lt"/>
              </a:rPr>
              <a:t>won = 1 → PP batting team won the match.</a:t>
            </a:r>
          </a:p>
          <a:p>
            <a:pPr marL="1028700" lvl="2" indent="0">
              <a:buNone/>
            </a:pPr>
            <a:r>
              <a:rPr lang="en-IN" sz="1400" dirty="0">
                <a:latin typeface="+mj-lt"/>
              </a:rPr>
              <a:t>won = 0 → PP batting team lost the match.</a:t>
            </a:r>
          </a:p>
          <a:p>
            <a:pPr lvl="1"/>
            <a:r>
              <a:rPr lang="en-IN" sz="1400" dirty="0">
                <a:latin typeface="+mj-lt"/>
              </a:rPr>
              <a:t>Only features available by the end of the Powerplay and pre-match context are used → avoids data leakage.</a:t>
            </a:r>
          </a:p>
          <a:p>
            <a:pPr marL="114300" indent="0">
              <a:buNone/>
            </a:pPr>
            <a:r>
              <a:rPr lang="en-IN" sz="1400" b="1" dirty="0">
                <a:latin typeface="+mj-lt"/>
              </a:rPr>
              <a:t>Key Features Used</a:t>
            </a:r>
            <a:endParaRPr lang="en-IN" sz="1400" dirty="0">
              <a:latin typeface="+mj-lt"/>
            </a:endParaRPr>
          </a:p>
          <a:p>
            <a:pPr marL="571500" lvl="1" indent="0">
              <a:buNone/>
            </a:pPr>
            <a:r>
              <a:rPr lang="en-IN" sz="1400" b="1" dirty="0">
                <a:latin typeface="+mj-lt"/>
              </a:rPr>
              <a:t>Powerplay stats:</a:t>
            </a:r>
            <a:r>
              <a:rPr lang="en-IN" sz="1400" dirty="0">
                <a:latin typeface="+mj-lt"/>
              </a:rPr>
              <a:t> runs, wickets, run rate, wicket rate, PP net rating (PP_NRR).</a:t>
            </a:r>
          </a:p>
          <a:p>
            <a:pPr marL="571500" lvl="1" indent="0">
              <a:buNone/>
            </a:pPr>
            <a:r>
              <a:rPr lang="en-IN" sz="1400" b="1" dirty="0">
                <a:latin typeface="+mj-lt"/>
              </a:rPr>
              <a:t>Contextual features:</a:t>
            </a:r>
            <a:r>
              <a:rPr lang="en-IN" sz="1400" dirty="0">
                <a:latin typeface="+mj-lt"/>
              </a:rPr>
              <a:t> batting team, bowling team, season, venue, city, toss winner, toss decision, innings.</a:t>
            </a:r>
          </a:p>
          <a:p>
            <a:pPr marL="571500" lvl="1" indent="0">
              <a:buNone/>
            </a:pPr>
            <a:r>
              <a:rPr lang="en-IN" sz="1400" b="1" dirty="0">
                <a:latin typeface="+mj-lt"/>
              </a:rPr>
              <a:t>Engineered strength metrics:</a:t>
            </a:r>
            <a:r>
              <a:rPr lang="en-IN" sz="1400" dirty="0">
                <a:latin typeface="+mj-lt"/>
              </a:rPr>
              <a:t> historical win rates for team, opponent, and venue.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endParaRPr sz="1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3e2e3785ae_0_313"/>
          <p:cNvSpPr txBox="1">
            <a:spLocks noGrp="1"/>
          </p:cNvSpPr>
          <p:nvPr>
            <p:ph type="title"/>
          </p:nvPr>
        </p:nvSpPr>
        <p:spPr>
          <a:xfrm>
            <a:off x="496330" y="543534"/>
            <a:ext cx="10311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dirty="0"/>
              <a:t>Methods &amp; Modelling Approach</a:t>
            </a:r>
            <a:endParaRPr dirty="0"/>
          </a:p>
        </p:txBody>
      </p:sp>
      <p:sp>
        <p:nvSpPr>
          <p:cNvPr id="186" name="Google Shape;186;g13e2e3785ae_0_313"/>
          <p:cNvSpPr txBox="1">
            <a:spLocks noGrp="1"/>
          </p:cNvSpPr>
          <p:nvPr>
            <p:ph type="body" idx="1"/>
          </p:nvPr>
        </p:nvSpPr>
        <p:spPr>
          <a:xfrm>
            <a:off x="626959" y="1475934"/>
            <a:ext cx="10311900" cy="512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1400" b="1" dirty="0">
                <a:latin typeface="+mj-lt"/>
              </a:rPr>
              <a:t>Data Preparation</a:t>
            </a:r>
            <a:endParaRPr lang="en-IN" sz="1400" dirty="0">
              <a:latin typeface="+mj-lt"/>
            </a:endParaRP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Cleaned match data: removed non-essential columns (umpires, player of match, match type, super over).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Dropped matches with no winner or missing targets; filled missing city and result margins sensibly.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Filtered deliveries to overs 0-5 to construct Powerplay summaries (PP runs, PP wickets, PP run rate).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Built a match-level dataset by merging PP features with match context.</a:t>
            </a:r>
          </a:p>
          <a:p>
            <a:pPr marL="114300" indent="0">
              <a:buNone/>
            </a:pPr>
            <a:r>
              <a:rPr lang="en-IN" sz="1400" b="1" dirty="0">
                <a:latin typeface="+mj-lt"/>
              </a:rPr>
              <a:t>Feature Engineering</a:t>
            </a:r>
            <a:endParaRPr lang="en-IN" sz="1400" dirty="0">
              <a:latin typeface="+mj-lt"/>
            </a:endParaRPr>
          </a:p>
          <a:p>
            <a:pPr lvl="1"/>
            <a:r>
              <a:rPr lang="en-IN" sz="1400" dirty="0">
                <a:latin typeface="+mj-lt"/>
              </a:rPr>
              <a:t>team_strength: historical win rate of the PP batting team.</a:t>
            </a:r>
          </a:p>
          <a:p>
            <a:pPr lvl="1"/>
            <a:r>
              <a:rPr lang="en-IN" sz="1400" dirty="0">
                <a:latin typeface="+mj-lt"/>
              </a:rPr>
              <a:t>opp_strength: historical win rate of the bowling team.</a:t>
            </a:r>
          </a:p>
          <a:p>
            <a:pPr lvl="1"/>
            <a:r>
              <a:rPr lang="en-IN" sz="1400" dirty="0">
                <a:latin typeface="+mj-lt"/>
              </a:rPr>
              <a:t>venue_strength: win rate at each venue.</a:t>
            </a:r>
          </a:p>
          <a:p>
            <a:pPr lvl="1"/>
            <a:r>
              <a:rPr lang="en-IN" sz="1400" dirty="0">
                <a:latin typeface="+mj-lt"/>
              </a:rPr>
              <a:t>pp_nrr: Powerplay net rating (run rate adjusted for wickets lost).</a:t>
            </a:r>
          </a:p>
          <a:p>
            <a:pPr lvl="1"/>
            <a:r>
              <a:rPr lang="en-IN" sz="1400" dirty="0">
                <a:latin typeface="+mj-lt"/>
              </a:rPr>
              <a:t>toss_match_strategy: alignment between toss decision and batting first.</a:t>
            </a:r>
          </a:p>
          <a:p>
            <a:pPr lvl="1"/>
            <a:r>
              <a:rPr lang="en-IN" sz="1400" dirty="0">
                <a:latin typeface="+mj-lt"/>
              </a:rPr>
              <a:t>One-hot encoding for teams, venue, season, toss winner; removed leakage columns (final result, targets, etc.).</a:t>
            </a:r>
          </a:p>
          <a:p>
            <a:pPr marL="114300" indent="0">
              <a:buNone/>
            </a:pPr>
            <a:r>
              <a:rPr lang="en-IN" sz="1400" b="1" dirty="0">
                <a:latin typeface="+mj-lt"/>
              </a:rPr>
              <a:t>Modelling &amp; Validation</a:t>
            </a:r>
            <a:endParaRPr lang="en-IN" sz="1400" dirty="0">
              <a:latin typeface="+mj-lt"/>
            </a:endParaRP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Models trained: Majority baseline, Logistic Regression, Decision Tree, Random Forest, XGBoost.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Train/test split: 80% train, 20% test with stratification on won.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5-fold cross-validation to assess stability.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Hyperparameter tuning (GridSearchCV) for Random Forest and XGBoost.</a:t>
            </a:r>
          </a:p>
          <a:p>
            <a:pPr marL="571500" lvl="1" indent="0">
              <a:buNone/>
            </a:pPr>
            <a:r>
              <a:rPr lang="en-IN" sz="1400" dirty="0">
                <a:latin typeface="+mj-lt"/>
              </a:rPr>
              <a:t>Evaluation metrics: accuracy (primary), precision, recall, F1, confusion matrices, ROC curves.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4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e2e3785ae_0_270"/>
          <p:cNvSpPr txBox="1">
            <a:spLocks noGrp="1"/>
          </p:cNvSpPr>
          <p:nvPr>
            <p:ph type="title"/>
          </p:nvPr>
        </p:nvSpPr>
        <p:spPr>
          <a:xfrm>
            <a:off x="400876" y="38950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4400"/>
            </a:pPr>
            <a:r>
              <a:rPr lang="en-IN" dirty="0"/>
              <a:t>Evaluation &amp; Strategic Insights</a:t>
            </a:r>
            <a:endParaRPr dirty="0"/>
          </a:p>
        </p:txBody>
      </p:sp>
      <p:sp>
        <p:nvSpPr>
          <p:cNvPr id="192" name="Google Shape;192;g13e2e3785ae_0_270"/>
          <p:cNvSpPr txBox="1">
            <a:spLocks noGrp="1"/>
          </p:cNvSpPr>
          <p:nvPr>
            <p:ph type="body" idx="2"/>
          </p:nvPr>
        </p:nvSpPr>
        <p:spPr>
          <a:xfrm>
            <a:off x="400876" y="1589315"/>
            <a:ext cx="5586229" cy="460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IN" sz="1600" b="1" dirty="0"/>
              <a:t>Model Performance</a:t>
            </a:r>
          </a:p>
          <a:p>
            <a:pPr marL="114300" indent="0">
              <a:lnSpc>
                <a:spcPct val="100000"/>
              </a:lnSpc>
              <a:buNone/>
            </a:pPr>
            <a:endParaRPr lang="en-IN" sz="1400" b="1" dirty="0"/>
          </a:p>
          <a:p>
            <a:pPr lvl="1">
              <a:lnSpc>
                <a:spcPct val="100000"/>
              </a:lnSpc>
            </a:pPr>
            <a:r>
              <a:rPr lang="en-IN" sz="1400" dirty="0"/>
              <a:t>Best Model: Random Forest → 63% Accuracy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(Logistic Regression: 58% | XGBoost: 57% | Majority Baseline: 54%)</a:t>
            </a:r>
            <a:br>
              <a:rPr lang="en-IN" sz="1400" dirty="0"/>
            </a:br>
            <a:endParaRPr lang="en-IN" sz="1400" dirty="0"/>
          </a:p>
          <a:p>
            <a:pPr marL="114300" indent="0">
              <a:lnSpc>
                <a:spcPct val="100000"/>
              </a:lnSpc>
              <a:buNone/>
            </a:pPr>
            <a:r>
              <a:rPr lang="en-IN" sz="1600" b="1" dirty="0"/>
              <a:t>What Drives the Prediction?</a:t>
            </a:r>
          </a:p>
          <a:p>
            <a:pPr marL="114300" indent="0">
              <a:lnSpc>
                <a:spcPct val="100000"/>
              </a:lnSpc>
              <a:buNone/>
            </a:pPr>
            <a:endParaRPr lang="en-IN" sz="1400" b="1" dirty="0"/>
          </a:p>
          <a:p>
            <a:pPr lvl="1">
              <a:lnSpc>
                <a:spcPct val="100000"/>
              </a:lnSpc>
            </a:pPr>
            <a:r>
              <a:rPr lang="en-IN" sz="1400" dirty="0"/>
              <a:t>Powerplay Runs 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Wickets 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Run Rate 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Team &amp; Venue Strength</a:t>
            </a:r>
          </a:p>
          <a:p>
            <a:pPr marL="571500" lvl="1" indent="0">
              <a:lnSpc>
                <a:spcPct val="100000"/>
              </a:lnSpc>
              <a:buNone/>
            </a:pPr>
            <a:endParaRPr lang="en-IN" sz="1400" dirty="0"/>
          </a:p>
        </p:txBody>
      </p:sp>
      <p:sp>
        <p:nvSpPr>
          <p:cNvPr id="3" name="Google Shape;192;g13e2e3785ae_0_270">
            <a:extLst>
              <a:ext uri="{FF2B5EF4-FFF2-40B4-BE49-F238E27FC236}">
                <a16:creationId xmlns:a16="http://schemas.microsoft.com/office/drawing/2014/main" id="{F075BAA3-D62E-95F9-C105-980F22A83BA0}"/>
              </a:ext>
            </a:extLst>
          </p:cNvPr>
          <p:cNvSpPr txBox="1">
            <a:spLocks/>
          </p:cNvSpPr>
          <p:nvPr/>
        </p:nvSpPr>
        <p:spPr>
          <a:xfrm>
            <a:off x="6204897" y="1184536"/>
            <a:ext cx="5475514" cy="466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lnSpc>
                <a:spcPct val="110000"/>
              </a:lnSpc>
              <a:buFont typeface="Arial"/>
              <a:buNone/>
            </a:pPr>
            <a:endParaRPr lang="en-IN" sz="1400" dirty="0"/>
          </a:p>
          <a:p>
            <a:pPr marL="114300" indent="0">
              <a:lnSpc>
                <a:spcPct val="110000"/>
              </a:lnSpc>
              <a:buNone/>
            </a:pPr>
            <a:r>
              <a:rPr lang="en-IN" sz="1600" b="1" dirty="0"/>
              <a:t>What-If Strategy Insights</a:t>
            </a:r>
          </a:p>
          <a:p>
            <a:pPr marL="114300" indent="0">
              <a:lnSpc>
                <a:spcPct val="110000"/>
              </a:lnSpc>
              <a:buNone/>
            </a:pPr>
            <a:endParaRPr lang="en-IN" sz="1400" b="1" dirty="0"/>
          </a:p>
          <a:p>
            <a:pPr lvl="1">
              <a:lnSpc>
                <a:spcPct val="110000"/>
              </a:lnSpc>
            </a:pPr>
            <a:r>
              <a:rPr lang="en-IN" sz="1400" dirty="0"/>
              <a:t>+10 PP Runs → 6–15% ↑ win probability</a:t>
            </a:r>
          </a:p>
          <a:p>
            <a:pPr lvl="1">
              <a:lnSpc>
                <a:spcPct val="110000"/>
              </a:lnSpc>
            </a:pPr>
            <a:r>
              <a:rPr lang="en-IN" sz="1400" dirty="0"/>
              <a:t>1 Wicket Saved → Meaningful gain in win chance</a:t>
            </a:r>
          </a:p>
          <a:p>
            <a:pPr lvl="1">
              <a:lnSpc>
                <a:spcPct val="110000"/>
              </a:lnSpc>
            </a:pPr>
            <a:r>
              <a:rPr lang="en-IN" sz="1400" dirty="0"/>
              <a:t>Batting-friendly venues → Attack early</a:t>
            </a:r>
          </a:p>
          <a:p>
            <a:pPr lvl="1">
              <a:lnSpc>
                <a:spcPct val="110000"/>
              </a:lnSpc>
            </a:pPr>
            <a:r>
              <a:rPr lang="en-IN" sz="1400" dirty="0"/>
              <a:t>Bowling-friendly venues → Preserve wickets</a:t>
            </a:r>
          </a:p>
          <a:p>
            <a:pPr lvl="1">
              <a:lnSpc>
                <a:spcPct val="110000"/>
              </a:lnSpc>
            </a:pPr>
            <a:endParaRPr lang="en-IN" sz="1400" dirty="0"/>
          </a:p>
          <a:p>
            <a:pPr marL="114300" indent="0">
              <a:lnSpc>
                <a:spcPct val="110000"/>
              </a:lnSpc>
              <a:buFont typeface="Arial"/>
              <a:buNone/>
            </a:pPr>
            <a:r>
              <a:rPr lang="en-IN" sz="1600" b="1" dirty="0"/>
              <a:t>Takeaway for Stakeholders</a:t>
            </a:r>
          </a:p>
          <a:p>
            <a:pPr marL="114300" indent="0">
              <a:lnSpc>
                <a:spcPct val="110000"/>
              </a:lnSpc>
              <a:buFont typeface="Arial"/>
              <a:buNone/>
            </a:pPr>
            <a:endParaRPr lang="en-IN" sz="1400" b="1" dirty="0"/>
          </a:p>
          <a:p>
            <a:pPr lvl="1">
              <a:lnSpc>
                <a:spcPct val="110000"/>
              </a:lnSpc>
            </a:pPr>
            <a:r>
              <a:rPr lang="en-IN" sz="1400" dirty="0"/>
              <a:t>Powerplay gives a strong early signal for:</a:t>
            </a:r>
          </a:p>
          <a:p>
            <a:pPr lvl="1">
              <a:lnSpc>
                <a:spcPct val="110000"/>
              </a:lnSpc>
            </a:pPr>
            <a:r>
              <a:rPr lang="en-IN" sz="1400" dirty="0"/>
              <a:t>Setting PP targets</a:t>
            </a:r>
          </a:p>
          <a:p>
            <a:pPr lvl="1">
              <a:lnSpc>
                <a:spcPct val="110000"/>
              </a:lnSpc>
            </a:pPr>
            <a:r>
              <a:rPr lang="en-IN" sz="1400" dirty="0"/>
              <a:t>Choosing aggression level</a:t>
            </a:r>
          </a:p>
          <a:p>
            <a:pPr lvl="1">
              <a:lnSpc>
                <a:spcPct val="110000"/>
              </a:lnSpc>
            </a:pPr>
            <a:r>
              <a:rPr lang="en-IN" sz="1400" dirty="0"/>
              <a:t>Venue-specific strategy</a:t>
            </a:r>
          </a:p>
          <a:p>
            <a:pPr indent="0">
              <a:lnSpc>
                <a:spcPct val="110000"/>
              </a:lnSpc>
              <a:spcAft>
                <a:spcPts val="1000"/>
              </a:spcAft>
              <a:buFont typeface="Arial"/>
              <a:buNone/>
            </a:pP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e2e3785ae_0_327"/>
          <p:cNvSpPr txBox="1">
            <a:spLocks noGrp="1"/>
          </p:cNvSpPr>
          <p:nvPr>
            <p:ph type="title"/>
          </p:nvPr>
        </p:nvSpPr>
        <p:spPr>
          <a:xfrm>
            <a:off x="409244" y="445563"/>
            <a:ext cx="10311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4400"/>
            </a:pPr>
            <a:r>
              <a:rPr lang="en-IN" dirty="0"/>
              <a:t>Team Contributions - Group Members &amp; Roles</a:t>
            </a:r>
            <a:br>
              <a:rPr lang="en-IN" dirty="0"/>
            </a:br>
            <a:endParaRPr dirty="0"/>
          </a:p>
        </p:txBody>
      </p:sp>
      <p:sp>
        <p:nvSpPr>
          <p:cNvPr id="199" name="Google Shape;199;g13e2e3785ae_0_327"/>
          <p:cNvSpPr txBox="1">
            <a:spLocks noGrp="1"/>
          </p:cNvSpPr>
          <p:nvPr>
            <p:ph type="body" idx="1"/>
          </p:nvPr>
        </p:nvSpPr>
        <p:spPr>
          <a:xfrm>
            <a:off x="518102" y="1231898"/>
            <a:ext cx="10311900" cy="491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1400" b="1" dirty="0"/>
              <a:t>Avinash Rajasekar (A00051626)</a:t>
            </a:r>
            <a:endParaRPr lang="en-IN" sz="1400" dirty="0"/>
          </a:p>
          <a:p>
            <a:pPr lvl="1"/>
            <a:r>
              <a:rPr lang="en-IN" sz="1400" dirty="0"/>
              <a:t>Led Powerplay prediction model development.</a:t>
            </a:r>
          </a:p>
          <a:p>
            <a:pPr lvl="1"/>
            <a:r>
              <a:rPr lang="en-IN" sz="1400" dirty="0"/>
              <a:t>Implemented and evaluated machine learning models.</a:t>
            </a:r>
          </a:p>
          <a:p>
            <a:pPr lvl="1"/>
            <a:r>
              <a:rPr lang="en-IN" sz="1400" dirty="0"/>
              <a:t>Conducted performance comparison and tuning.</a:t>
            </a:r>
          </a:p>
          <a:p>
            <a:pPr marL="571500" lvl="1" indent="0">
              <a:buNone/>
            </a:pPr>
            <a:endParaRPr lang="en-IN" sz="1400" dirty="0"/>
          </a:p>
          <a:p>
            <a:pPr marL="114300" indent="0">
              <a:buNone/>
            </a:pPr>
            <a:r>
              <a:rPr lang="en-IN" sz="1400" b="1" dirty="0"/>
              <a:t>Ashika Rajkumar (A00052851)</a:t>
            </a:r>
            <a:endParaRPr lang="en-IN" sz="1400" dirty="0"/>
          </a:p>
          <a:p>
            <a:pPr lvl="1"/>
            <a:r>
              <a:rPr lang="en-IN" sz="1400" dirty="0"/>
              <a:t>Led data cleaning, preprocessing, and dataset merging (matches + deliveries + PP).</a:t>
            </a:r>
          </a:p>
          <a:p>
            <a:pPr lvl="1"/>
            <a:r>
              <a:rPr lang="en-IN" sz="1400" dirty="0"/>
              <a:t>Designed and implemented feature engineering (team/venue strength, PP_NRR, etc.).</a:t>
            </a:r>
          </a:p>
          <a:p>
            <a:pPr lvl="1"/>
            <a:r>
              <a:rPr lang="en-IN" sz="1400" dirty="0"/>
              <a:t>Interpreted model results and wrote major sections of the report and documentation.</a:t>
            </a:r>
          </a:p>
          <a:p>
            <a:pPr marL="571500" lvl="1" indent="0">
              <a:buNone/>
            </a:pPr>
            <a:endParaRPr lang="en-IN" sz="1400" dirty="0"/>
          </a:p>
          <a:p>
            <a:pPr marL="114300" indent="0">
              <a:buNone/>
            </a:pPr>
            <a:r>
              <a:rPr lang="en-IN" sz="1400" b="1" dirty="0"/>
              <a:t>Haritha Ramadass (A00052071)</a:t>
            </a:r>
            <a:endParaRPr lang="en-IN" sz="1400" dirty="0"/>
          </a:p>
          <a:p>
            <a:pPr lvl="1"/>
            <a:r>
              <a:rPr lang="en-IN" sz="1400" dirty="0"/>
              <a:t>Conducted exploratory data analysis and visualisations.</a:t>
            </a:r>
          </a:p>
          <a:p>
            <a:pPr lvl="1"/>
            <a:r>
              <a:rPr lang="en-IN" sz="1400" dirty="0"/>
              <a:t>Analysed distribution of PP runs/wickets, venue patterns, and toss effects.</a:t>
            </a:r>
          </a:p>
          <a:p>
            <a:pPr lvl="1"/>
            <a:r>
              <a:rPr lang="en-IN" sz="1400" dirty="0"/>
              <a:t>Supported model comparison and insights on Powerplay behaviour.</a:t>
            </a:r>
          </a:p>
          <a:p>
            <a:pPr marL="571500" lvl="1" indent="0">
              <a:buNone/>
            </a:pPr>
            <a:endParaRPr lang="en-IN" sz="1400" dirty="0"/>
          </a:p>
          <a:p>
            <a:pPr marL="114300" indent="0">
              <a:buNone/>
            </a:pPr>
            <a:r>
              <a:rPr lang="en-IN" sz="1400" b="1" dirty="0"/>
              <a:t>Kundan Raghavendra Rao (A00052883)</a:t>
            </a:r>
            <a:endParaRPr lang="en-IN" sz="1400" dirty="0"/>
          </a:p>
          <a:p>
            <a:pPr lvl="1"/>
            <a:r>
              <a:rPr lang="en-IN" sz="1400" dirty="0"/>
              <a:t>Identified and sourced IPL datasets from Kaggle and supporting references.</a:t>
            </a:r>
          </a:p>
          <a:p>
            <a:pPr lvl="1"/>
            <a:r>
              <a:rPr lang="en-IN" sz="1400" dirty="0"/>
              <a:t>Contributed to literature review and background on Powerplay tactics.</a:t>
            </a:r>
          </a:p>
          <a:p>
            <a:pPr lvl="1"/>
            <a:r>
              <a:rPr lang="en-IN" sz="1400" dirty="0"/>
              <a:t>Assisted with report formatting, references, and submission preparation.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0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845</Words>
  <Application>Microsoft Macintosh PowerPoint</Application>
  <PresentationFormat>Widescreen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16_Office Theme</vt:lpstr>
      <vt:lpstr>22_Office Theme</vt:lpstr>
      <vt:lpstr>15_Office Theme</vt:lpstr>
      <vt:lpstr>23_Office Theme</vt:lpstr>
      <vt:lpstr>20_Office Theme</vt:lpstr>
      <vt:lpstr>The Powerplay Effect: Predicting IPL Match Outcomes from Early-Over Performance</vt:lpstr>
      <vt:lpstr>Data &amp; Problem Framing</vt:lpstr>
      <vt:lpstr>Methods &amp; Modelling Approach</vt:lpstr>
      <vt:lpstr>Evaluation &amp; Strategic Insights</vt:lpstr>
      <vt:lpstr>Team Contributions - Group Members &amp; Roles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Katy Ruth Halpin</dc:creator>
  <cp:lastModifiedBy>Ashika Rajkumar</cp:lastModifiedBy>
  <cp:revision>2</cp:revision>
  <dcterms:created xsi:type="dcterms:W3CDTF">2022-05-19T09:57:07Z</dcterms:created>
  <dcterms:modified xsi:type="dcterms:W3CDTF">2025-12-02T13:46:44Z</dcterms:modified>
</cp:coreProperties>
</file>